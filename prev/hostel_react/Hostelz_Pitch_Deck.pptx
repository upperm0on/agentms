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 (GHS M)</c:v>
                </c:pt>
              </c:strCache>
            </c:strRef>
          </c:tx>
          <c:dPt>
            <c:idx val="0"/>
            <c:spPr>
              <a:solidFill>
                <a:srgbClr val="1E3A8A"/>
              </a:solidFill>
            </c:spPr>
          </c:dPt>
          <c:dPt>
            <c:idx val="1"/>
            <c:spPr>
              <a:solidFill>
                <a:srgbClr val="2563EB"/>
              </a:solidFill>
            </c:spPr>
          </c:dPt>
          <c:dPt>
            <c:idx val="2"/>
            <c:spPr>
              <a:solidFill>
                <a:srgbClr val="3B82F6"/>
              </a:solidFill>
            </c:spPr>
          </c:dPt>
          <c:dPt>
            <c:idx val="3"/>
            <c:spPr>
              <a:solidFill>
                <a:srgbClr val="10B981"/>
              </a:solidFill>
            </c:spPr>
          </c:dPt>
          <c:cat>
            <c:strRef>
              <c:f>Sheet1!$A$2:$A$5</c:f>
              <c:strCache>
                <c:ptCount val="4"/>
                <c:pt idx="0">
                  <c:v>Per Room</c:v>
                </c:pt>
                <c:pt idx="1">
                  <c:v>Per Hostel</c:v>
                </c:pt>
                <c:pt idx="2">
                  <c:v>Per Campus</c:v>
                </c:pt>
                <c:pt idx="3">
                  <c:v>Ghana Total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0.018</c:v>
                </c:pt>
                <c:pt idx="1">
                  <c:v>0.6</c:v>
                </c:pt>
                <c:pt idx="2">
                  <c:v>30</c:v>
                </c:pt>
                <c:pt idx="3">
                  <c:v>1120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400800" cy="3200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1031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2563EB"/>
                </a:solidFill>
                <a:latin typeface="Poppins"/>
              </a:defRPr>
            </a:pPr>
            <a:r>
              <a:t>HOSTELZ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9260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i="1">
                <a:solidFill>
                  <a:srgbClr val="6B7280"/>
                </a:solidFill>
                <a:latin typeface="Inter"/>
              </a:defRPr>
            </a:pPr>
            <a:r>
              <a:t>Airbnb meets Stripe for Africa's Student Hostels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8404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Poppins"/>
              </a:defRPr>
            </a:pPr>
            <a:r>
              <a:t>Yaw Barimah Amponsah, Founder &amp; CEO</a:t>
            </a:r>
          </a:p>
          <a:p>
            <a:pPr algn="ctr">
              <a:defRPr sz="1200">
                <a:solidFill>
                  <a:srgbClr val="6B7280"/>
                </a:solidFill>
                <a:latin typeface="Inter"/>
              </a:defRPr>
            </a:pPr>
            <a:r>
              <a:t>October 2025 • Raising $101K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The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14400"/>
            <a:ext cx="822960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18872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1430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Poppins"/>
              </a:defRPr>
            </a:pPr>
            <a:r>
              <a:t>Blind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55448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Inter"/>
              </a:defRPr>
            </a:pPr>
            <a:r>
              <a:t>New admits hunt without vetting → 30% risk of unsafe living situations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68880"/>
            <a:ext cx="822960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74320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9748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Poppins"/>
              </a:defRPr>
            </a:pPr>
            <a:r>
              <a:t>Pressure &amp; Compromise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10896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Inter"/>
              </a:defRPr>
            </a:pPr>
            <a:r>
              <a:t>Fast decisions force subpar hostel choices without budget fit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023360"/>
            <a:ext cx="822960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29768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5196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519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Poppins"/>
              </a:defRPr>
            </a:pPr>
            <a:r>
              <a:t>Zero Transparency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66344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Inter"/>
              </a:defRPr>
            </a:pPr>
            <a:r>
              <a:t>Managers overcharge with no competition or management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The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114800" cy="5029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Poppins"/>
              </a:defRPr>
            </a:pPr>
            <a:r>
              <a:t>For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Inter"/>
              </a:defRPr>
            </a:pPr>
            <a:r>
              <a:t>✓ Safe Hostel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Inter"/>
              </a:defRPr>
            </a:pPr>
            <a:r>
              <a:t>✓ Instant Paystack Bookings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Inter"/>
              </a:defRPr>
            </a:pPr>
            <a:r>
              <a:t>✓ Verified Reviews &amp; Ratings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097280"/>
            <a:ext cx="4114800" cy="5029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Poppins"/>
              </a:defRPr>
            </a:pPr>
            <a:r>
              <a:t>For Managers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828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Inter"/>
              </a:defRPr>
            </a:pPr>
            <a:r>
              <a:t>✓ Dynamic Pricing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468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Inter"/>
              </a:defRPr>
            </a:pPr>
            <a:r>
              <a:t>✓ Tenant &amp; Revenue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108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Inter"/>
              </a:defRPr>
            </a:pPr>
            <a:r>
              <a:t>✓ Multi-Currency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Product Demo: 30-Second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7863840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28016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34439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23443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Poppins"/>
              </a:defRPr>
            </a:pPr>
            <a:r>
              <a:t>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0020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Inter"/>
              </a:defRPr>
            </a:pPr>
            <a:r>
              <a:t>KNUST • 1-Room • Wi-Fi • &lt; GHS 6K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7863840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51460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468879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6887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Poppins"/>
              </a:defRPr>
            </a:pPr>
            <a:r>
              <a:t>Discover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834639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Inter"/>
              </a:defRPr>
            </a:pPr>
            <a:r>
              <a:t>4.3★ Ratings • Real Availability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66160"/>
            <a:ext cx="7863840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374904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703320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03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Poppins"/>
              </a:defRPr>
            </a:pPr>
            <a:r>
              <a:t>Reserve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6908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Inter"/>
              </a:defRPr>
            </a:pPr>
            <a:r>
              <a:t>Room 6 • GHS 249.97 • 29 slots left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800600"/>
            <a:ext cx="7863840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498348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937760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9377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Poppins"/>
              </a:defRPr>
            </a:pPr>
            <a:r>
              <a:t>Pay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30352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Inter"/>
              </a:defRPr>
            </a:pPr>
            <a:r>
              <a:t>Instant Paystack Receipt • Done 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Market Size: GHS 1.12B TAM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097280"/>
          <a:ext cx="822960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029200"/>
            <a:ext cx="7863840" cy="1371600"/>
          </a:xfrm>
          <a:prstGeom prst="roundRect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Poppins"/>
              </a:defRPr>
            </a:pPr>
            <a:r>
              <a:t>78% Coverage in 3 Years = GHS 874M Addressable</a:t>
            </a:r>
          </a:p>
          <a:p>
            <a:pPr>
              <a:defRPr sz="1200">
                <a:solidFill>
                  <a:srgbClr val="1E293B"/>
                </a:solidFill>
                <a:latin typeface="Inter"/>
              </a:defRPr>
            </a:pPr>
            <a:r>
              <a:t>(186K students, 1.8K hostels)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Business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188720"/>
            <a:ext cx="6400800" cy="685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325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Poppins"/>
              </a:defRPr>
            </a:pPr>
            <a:r>
              <a:t>Student Booking Fee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325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3B82F6"/>
                </a:solidFill>
                <a:latin typeface="Poppins"/>
              </a:defRPr>
            </a:pPr>
            <a:r>
              <a:t>4–8% (tiered by room price)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057400"/>
            <a:ext cx="6400800" cy="685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1945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Poppins"/>
              </a:defRPr>
            </a:pPr>
            <a:r>
              <a:t>Paystack 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1945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6B6B"/>
                </a:solidFill>
                <a:latin typeface="Poppins"/>
              </a:defRPr>
            </a:pPr>
            <a:r>
              <a:t>-2%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926080"/>
            <a:ext cx="6400800" cy="685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3063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Poppins"/>
              </a:defRPr>
            </a:pPr>
            <a:r>
              <a:t>Infrastructure Costs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0632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B7280"/>
                </a:solidFill>
                <a:latin typeface="Poppins"/>
              </a:defRPr>
            </a:pPr>
            <a:r>
              <a:t>~1% (traffic-based)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3794760"/>
            <a:ext cx="6400800" cy="685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3931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Poppins"/>
              </a:defRPr>
            </a:pPr>
            <a:r>
              <a:t>Net Profit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9319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10B981"/>
                </a:solidFill>
                <a:latin typeface="Poppins"/>
              </a:defRPr>
            </a:pPr>
            <a:r>
              <a:t>1–5%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03520"/>
            <a:ext cx="7863840" cy="10972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4406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563EB"/>
                </a:solidFill>
                <a:latin typeface="Inter"/>
              </a:defRPr>
            </a:pPr>
            <a:r>
              <a:t>Future Revenue: 5% Marketplace + Premium Tools + Ads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Competition: We Dominate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188720"/>
            <a:ext cx="7315200" cy="822960"/>
          </a:xfrm>
          <a:prstGeom prst="roundRect">
            <a:avLst/>
          </a:prstGeom>
          <a:solidFill>
            <a:srgbClr val="10B981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371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Poppins"/>
              </a:defRPr>
            </a:pPr>
            <a:r>
              <a:t>Hostelz (Us)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3716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0B981"/>
                </a:solidFill>
              </a:defRPr>
            </a:pPr>
            <a:r>
              <a:t>9/10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0B981"/>
                </a:solidFill>
              </a:defRPr>
            </a:pPr>
            <a:r>
              <a:t>9/10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148840"/>
            <a:ext cx="7315200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3317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B7280"/>
                </a:solidFill>
                <a:latin typeface="Poppins"/>
              </a:defRPr>
            </a:pPr>
            <a:r>
              <a:t>GetRooms.co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3317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4/10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7/10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108960"/>
            <a:ext cx="7315200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2918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B7280"/>
                </a:solidFill>
                <a:latin typeface="Poppins"/>
              </a:defRPr>
            </a:pPr>
            <a:r>
              <a:t>HostelReserve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2918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3/10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918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6/10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069080"/>
            <a:ext cx="7315200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2519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B7280"/>
                </a:solidFill>
                <a:latin typeface="Poppins"/>
              </a:defRPr>
            </a:pPr>
            <a:r>
              <a:t>StudentRoomBook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2519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2/10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519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Our Competitive Advantage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7863840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325880"/>
            <a:ext cx="274320" cy="2743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234439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Poppins"/>
              </a:defRPr>
            </a:pPr>
            <a:r>
              <a:t>Smart Pricing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45919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  <a:latin typeface="Inter"/>
              </a:defRPr>
            </a:pPr>
            <a:r>
              <a:t>Auto-adjusts by stay length (monthly/yearly)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7863840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560320"/>
            <a:ext cx="274320" cy="2743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468879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Poppins"/>
              </a:defRPr>
            </a:pPr>
            <a:r>
              <a:t>Verified Reviews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88036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  <a:latin typeface="Inter"/>
              </a:defRPr>
            </a:pPr>
            <a:r>
              <a:t>Trusted insights from real users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66160"/>
            <a:ext cx="7863840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3794760"/>
            <a:ext cx="274320" cy="2743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37033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Poppins"/>
              </a:defRPr>
            </a:pPr>
            <a:r>
              <a:t>Escrow Marketplace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1480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  <a:latin typeface="Inter"/>
              </a:defRPr>
            </a:pPr>
            <a:r>
              <a:t>Safe transactions + wallet payouts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00600"/>
            <a:ext cx="7863840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29200"/>
            <a:ext cx="274320" cy="2743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49377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Poppins"/>
              </a:defRPr>
            </a:pPr>
            <a:r>
              <a:t>Global 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34924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  <a:latin typeface="Inter"/>
              </a:defRPr>
            </a:pPr>
            <a:r>
              <a:t>50+ currencies + real-time WebSockets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Go-to-Market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114800" cy="2194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3258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Poppins"/>
              </a:defRPr>
            </a:pPr>
            <a:r>
              <a:t>Students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  <a:latin typeface="Inter"/>
              </a:defRPr>
            </a:pPr>
            <a:r>
              <a:t>Social ads (IG/TikTok) + influencer collabs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097280"/>
            <a:ext cx="4114800" cy="2194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303520" y="137160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298448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3258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Poppins"/>
              </a:defRPr>
            </a:pPr>
            <a:r>
              <a:t>Managers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01168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  <a:latin typeface="Inter"/>
              </a:defRPr>
            </a:pPr>
            <a:r>
              <a:t>Partner with SRC presidents &amp; housing offices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57600"/>
            <a:ext cx="4114800" cy="2194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393192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58768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8862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Poppins"/>
              </a:defRPr>
            </a:pPr>
            <a:r>
              <a:t>Pilot Launch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720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  <a:latin typeface="Inter"/>
              </a:defRPr>
            </a:pPr>
            <a:r>
              <a:t>Start KNUST → UCC/UG (78% Ghana in 3 yrs)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657600"/>
            <a:ext cx="4114800" cy="2194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303520" y="393192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3858768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8862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Poppins"/>
              </a:defRPr>
            </a:pPr>
            <a:r>
              <a:t>Campus 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45720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  <a:latin typeface="Inter"/>
              </a:defRPr>
            </a:pPr>
            <a:r>
              <a:t>Direct onboardings &amp; partnerships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Traction: Building Momentum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7863840" cy="1005840"/>
          </a:xfrm>
          <a:prstGeom prst="roundRect">
            <a:avLst/>
          </a:prstGeom>
          <a:solidFill>
            <a:srgbClr val="10B981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32588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Inter"/>
              </a:defRPr>
            </a:pPr>
            <a:r>
              <a:t>100% Beta Tester Love — "Finally, an app that gets it right"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77440"/>
            <a:ext cx="7863840" cy="1005840"/>
          </a:xfrm>
          <a:prstGeom prst="roundRect">
            <a:avLst/>
          </a:prstGeom>
          <a:solidFill>
            <a:srgbClr val="10B981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51460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Inter"/>
              </a:defRPr>
            </a:pPr>
            <a:r>
              <a:t>Manager Validation — "No tools like this exist"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66160"/>
            <a:ext cx="7863840" cy="1005840"/>
          </a:xfrm>
          <a:prstGeom prst="roundRect">
            <a:avLst/>
          </a:prstGeom>
          <a:solidFill>
            <a:srgbClr val="10B981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4904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70332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Inter"/>
              </a:defRPr>
            </a:pPr>
            <a:r>
              <a:t>Pipeline: SRC Presidents (Kumasi Tech + more)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754880"/>
            <a:ext cx="7863840" cy="1005840"/>
          </a:xfrm>
          <a:prstGeom prst="roundRect">
            <a:avLst/>
          </a:prstGeom>
          <a:solidFill>
            <a:srgbClr val="10B981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0B981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89204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Inter"/>
              </a:defRPr>
            </a:pPr>
            <a:r>
              <a:t>MVP Live: Paystack integrated, multi-env tested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Team: Built It Solo (So Far)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097280"/>
            <a:ext cx="6400800" cy="5029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4630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Poppins"/>
              </a:defRPr>
            </a:pPr>
            <a:r>
              <a:t>Yaw Barimah Amponsah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1031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B7280"/>
                </a:solidFill>
                <a:latin typeface="Inter"/>
              </a:defRPr>
            </a:pPr>
            <a:r>
              <a:t>Founder &amp;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6517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Inter"/>
              </a:defRPr>
            </a:pPr>
            <a:r>
              <a:t>🚀 95% Solo Build: Django + React + DevOps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3832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Inter"/>
              </a:defRPr>
            </a:pPr>
            <a:r>
              <a:t>🚀 Deployed &amp; Live: Multi-env tested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114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Inter"/>
              </a:defRPr>
            </a:pPr>
            <a:r>
              <a:t>🚀 Pitching &amp; Fundraising: Ready to scale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The Ask: $101K for Marketing Fuel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7863840" cy="1463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Poppins"/>
              </a:defRPr>
            </a:pPr>
            <a:r>
              <a:t>100% Marketing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Inter"/>
              </a:defRPr>
            </a:pPr>
            <a:r>
              <a:t>18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  <a:latin typeface="Inter"/>
              </a:defRPr>
            </a:pPr>
            <a:r>
              <a:t>Social + Influencer campaigns → 50+ campuses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34640"/>
            <a:ext cx="7863840" cy="1463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Poppins"/>
              </a:defRPr>
            </a:pPr>
            <a:r>
              <a:t>Self-Fund 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0175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Inter"/>
              </a:defRPr>
            </a:pPr>
            <a:r>
              <a:t>Ongoing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  <a:latin typeface="Inter"/>
              </a:defRPr>
            </a:pPr>
            <a:r>
              <a:t>App revenue covers servers &amp; team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80560"/>
            <a:ext cx="7863840" cy="1463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Poppins"/>
              </a:defRPr>
            </a:pPr>
            <a:r>
              <a:t>Target Milestone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6634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Inter"/>
              </a:defRPr>
            </a:pPr>
            <a:r>
              <a:t>Year 2-3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20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  <a:latin typeface="Inter"/>
              </a:defRPr>
            </a:pPr>
            <a:r>
              <a:t>GHS 40M+ bookings • 78% Ghana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The Vision: Africa's Student 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7315200" cy="8229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508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50876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Poppins"/>
              </a:defRPr>
            </a:pPr>
            <a:r>
              <a:t>100% Student Housing Control Across Africa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23160"/>
            <a:ext cx="7315200" cy="8229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5603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56032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Poppins"/>
              </a:defRPr>
            </a:pPr>
            <a:r>
              <a:t>Global Bookings Platform (Multi-Currency)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474720"/>
            <a:ext cx="7315200" cy="8229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6118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611879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Poppins"/>
              </a:defRPr>
            </a:pPr>
            <a:r>
              <a:t>5% Marketplace Net + Ads + Premium Tools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526279"/>
            <a:ext cx="7315200" cy="8229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66344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66344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Poppins"/>
              </a:defRPr>
            </a:pPr>
            <a:r>
              <a:t>Safer, Smarter Living for Millions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669280"/>
            <a:ext cx="6400800" cy="731520"/>
          </a:xfrm>
          <a:prstGeom prst="roundRect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5806440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 b="1">
                <a:solidFill>
                  <a:srgbClr val="10B981"/>
                </a:solidFill>
                <a:latin typeface="Poppins"/>
              </a:defRPr>
            </a:pPr>
            <a:r>
              <a:t>One app. Every campus. Transformative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